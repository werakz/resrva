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42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solidFill>
              <a:srgbClr val="F7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7635240" y="-777240"/>
            <a:ext cx="5212080" cy="5212080"/>
          </a:xfrm>
          <a:prstGeom prst="arc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82127" y="804672"/>
            <a:ext cx="36118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1252728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96012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0B2E21"/>
                </a:solidFill>
                <a:latin typeface="Aptos"/>
              </a:rPr>
              <a:t>Resrva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0E5630"/>
                </a:solidFill>
                <a:latin typeface="Aptos"/>
              </a:rPr>
              <a:t>Restaurant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5943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ptos"/>
              </a:rPr>
              <a:t>A full-stack booking platform for public reservations, function requests, table management, manager workflows, and AI-assisted customer replies.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401568"/>
            <a:ext cx="1115568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50" b="1">
                <a:solidFill>
                  <a:srgbClr val="2E90FA"/>
                </a:solidFill>
                <a:latin typeface="Aptos"/>
              </a:rPr>
              <a:t>React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3401568"/>
            <a:ext cx="1115568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50" b="1">
                <a:solidFill>
                  <a:srgbClr val="2E90FA"/>
                </a:solidFill>
                <a:latin typeface="Aptos"/>
              </a:rPr>
              <a:t>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401568"/>
            <a:ext cx="1115568" cy="283464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50" b="1">
                <a:solidFill>
                  <a:srgbClr val="0E5630"/>
                </a:solidFill>
                <a:latin typeface="Aptos"/>
              </a:rPr>
              <a:t>PHP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58768"/>
            <a:ext cx="1115568" cy="283464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50" b="1">
                <a:solidFill>
                  <a:srgbClr val="F59E0B"/>
                </a:solidFill>
                <a:latin typeface="Aptos"/>
              </a:rPr>
              <a:t>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3858768"/>
            <a:ext cx="1115568" cy="283464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50" b="1">
                <a:solidFill>
                  <a:srgbClr val="0E5630"/>
                </a:solidFill>
                <a:latin typeface="Aptos"/>
              </a:rPr>
              <a:t>Tailwind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858768"/>
            <a:ext cx="1115568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50" b="1">
                <a:solidFill>
                  <a:srgbClr val="2E90FA"/>
                </a:solidFill>
                <a:latin typeface="Aptos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6908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Aptos"/>
              </a:rPr>
              <a:t>Built for the Old Canberra Inn assessment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4480560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ptos"/>
              </a:rPr>
              <a:t>Public booking forms plus a manager dashboard in one local XAMPP-ready application.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47472"/>
            <a:ext cx="530352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9764A"/>
                </a:solidFill>
                <a:latin typeface="Aptos"/>
              </a:rPr>
              <a:t>PROJECT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What Resrva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The app replaces scattered booking notes with one workflow for customers, managers, tables, and venue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9264" y="2240280"/>
            <a:ext cx="384048" cy="384048"/>
          </a:xfrm>
          <a:prstGeom prst="ellipse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231343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E563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88920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ptos"/>
              </a:rPr>
              <a:t>Public self-service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82112"/>
            <a:ext cx="2670048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dirty="0">
                <a:solidFill>
                  <a:srgbClr val="667085"/>
                </a:solidFill>
                <a:latin typeface="Aptos"/>
              </a:rPr>
              <a:t>Customers submit table bookings or function requests without needing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96596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18304" y="2240280"/>
            <a:ext cx="384048" cy="384048"/>
          </a:xfrm>
          <a:prstGeom prst="ellipse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8304" y="231343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E563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788920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ptos"/>
              </a:rPr>
              <a:t>Manager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182112"/>
            <a:ext cx="267004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ptos"/>
              </a:rPr>
              <a:t>Staff review, filter, assign tables, edit details, and prepare customer responses.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1" y="196596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67343" y="2240280"/>
            <a:ext cx="384048" cy="384048"/>
          </a:xfrm>
          <a:prstGeom prst="ellipse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3" y="231343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E563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3" y="2788920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ptos"/>
              </a:rPr>
              <a:t>Venue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7" y="3182112"/>
            <a:ext cx="267004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ptos"/>
              </a:rPr>
              <a:t>Settings control online booking windows, blocked dates, opening hours, terms, and venue branding.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617720"/>
            <a:ext cx="10771632" cy="1078992"/>
          </a:xfrm>
          <a:prstGeom prst="roundRect">
            <a:avLst/>
          </a:prstGeom>
          <a:solidFill>
            <a:srgbClr val="0E5630"/>
          </a:solidFill>
          <a:ln w="12700"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" y="501091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00" b="1">
                <a:solidFill>
                  <a:srgbClr val="0E5630"/>
                </a:solidFill>
                <a:latin typeface="Aptos"/>
              </a:rPr>
              <a:t>Bookings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33472" y="501091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00" b="1">
                <a:solidFill>
                  <a:srgbClr val="0E5630"/>
                </a:solidFill>
                <a:latin typeface="Aptos"/>
              </a:rPr>
              <a:t>Functions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6824" y="501091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00" b="1">
                <a:solidFill>
                  <a:srgbClr val="0E5630"/>
                </a:solidFill>
                <a:latin typeface="Aptos"/>
              </a:rPr>
              <a:t>Calendar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01091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00" b="1">
                <a:solidFill>
                  <a:srgbClr val="0E5630"/>
                </a:solidFill>
                <a:latin typeface="Aptos"/>
              </a:rPr>
              <a:t>Tables &amp; areas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53528" y="501091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00" b="1">
                <a:solidFill>
                  <a:srgbClr val="0E5630"/>
                </a:solidFill>
                <a:latin typeface="Aptos"/>
              </a:rPr>
              <a:t>Settings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5010912"/>
            <a:ext cx="13258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900" b="1">
                <a:solidFill>
                  <a:srgbClr val="0E5630"/>
                </a:solidFill>
                <a:latin typeface="Aptos"/>
              </a:rPr>
              <a:t>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8155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0E5630"/>
                </a:solidFill>
                <a:latin typeface="Aptos"/>
              </a:rPr>
              <a:t>Single operational 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47472"/>
            <a:ext cx="530352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9764A"/>
                </a:solidFill>
                <a:latin typeface="Aptos"/>
              </a:rPr>
              <a:t>TECHNICAL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React handles the public and manager interfaces. PHP exposes API routes, validates requests, and stores data in MySQL.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84831"/>
            <a:ext cx="199339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33172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Public pages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788920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7249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Table booking form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172968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31089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Function request form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57015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4930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Terms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084831"/>
            <a:ext cx="199339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Manager dashboard</a:t>
            </a:r>
          </a:p>
        </p:txBody>
      </p:sp>
      <p:sp>
        <p:nvSpPr>
          <p:cNvPr id="16" name="Oval 15"/>
          <p:cNvSpPr/>
          <p:nvPr/>
        </p:nvSpPr>
        <p:spPr>
          <a:xfrm>
            <a:off x="3474720" y="2788920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9312" y="27249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Bookings &amp; functions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3172968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9312" y="31089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Calendar &amp; tables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0" y="3557015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9312" y="34930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Settings &amp;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2084831"/>
            <a:ext cx="199339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16168" y="233172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PHP API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2788920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08192" y="27249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Session auth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3172968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31089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Validation rules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3557015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08192" y="34930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PDO prepared 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084831"/>
            <a:ext cx="199339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85048" y="233172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MySQL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0" y="2788920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77072" y="27249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Bookings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3172968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77072" y="31089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Customers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3557015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77072" y="34930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Tables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3941063"/>
            <a:ext cx="100584" cy="100584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77072" y="38770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Settings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70632" y="3090672"/>
            <a:ext cx="475488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ight Triangle 40"/>
          <p:cNvSpPr/>
          <p:nvPr/>
        </p:nvSpPr>
        <p:spPr>
          <a:xfrm>
            <a:off x="3127248" y="2990088"/>
            <a:ext cx="146304" cy="201168"/>
          </a:xfrm>
          <a:prstGeom prst="rtTriangle">
            <a:avLst/>
          </a:prstGeom>
          <a:solidFill>
            <a:srgbClr val="B8C2C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5239512" y="3090672"/>
            <a:ext cx="475488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Triangle 42"/>
          <p:cNvSpPr/>
          <p:nvPr/>
        </p:nvSpPr>
        <p:spPr>
          <a:xfrm>
            <a:off x="5596128" y="2990088"/>
            <a:ext cx="146304" cy="201168"/>
          </a:xfrm>
          <a:prstGeom prst="rtTriangle">
            <a:avLst/>
          </a:prstGeom>
          <a:solidFill>
            <a:srgbClr val="B8C2C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7708392" y="3090672"/>
            <a:ext cx="475487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ight Triangle 44"/>
          <p:cNvSpPr/>
          <p:nvPr/>
        </p:nvSpPr>
        <p:spPr>
          <a:xfrm>
            <a:off x="8065007" y="2990088"/>
            <a:ext cx="146304" cy="201168"/>
          </a:xfrm>
          <a:prstGeom prst="rtTriangle">
            <a:avLst/>
          </a:prstGeom>
          <a:solidFill>
            <a:srgbClr val="B8C2CC"/>
          </a:solidFill>
          <a:ln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77240" y="4617720"/>
            <a:ext cx="987552" cy="283464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850" b="1">
                <a:solidFill>
                  <a:srgbClr val="0E5630"/>
                </a:solidFill>
                <a:latin typeface="Aptos"/>
              </a:rPr>
              <a:t>Frontend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4654296"/>
            <a:ext cx="3749039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React 19, TypeScript, Vite, Tailwind CSS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4617720"/>
            <a:ext cx="987552" cy="283464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850" b="1">
                <a:solidFill>
                  <a:srgbClr val="0E5630"/>
                </a:solidFill>
                <a:latin typeface="Aptos"/>
              </a:rPr>
              <a:t>Backend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4032" y="4654296"/>
            <a:ext cx="3749039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PHP 8 API with PDO and session checks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221224"/>
            <a:ext cx="987552" cy="283464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850" b="1">
                <a:solidFill>
                  <a:srgbClr val="0E5630"/>
                </a:solidFill>
                <a:latin typeface="Aptos"/>
              </a:rPr>
              <a:t>Database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47672" y="5257800"/>
            <a:ext cx="3749039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MySQL schema with seed data for the demo venue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5221224"/>
            <a:ext cx="987552" cy="283464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500" tIns="0" rIns="63500" bIns="0" rtlCol="0" anchor="ctr"/>
          <a:lstStyle/>
          <a:p>
            <a:pPr algn="ctr"/>
            <a:r>
              <a:rPr sz="850" b="1">
                <a:solidFill>
                  <a:srgbClr val="0E5630"/>
                </a:solidFill>
                <a:latin typeface="Aptos"/>
              </a:rPr>
              <a:t>Runtime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5257800"/>
            <a:ext cx="3749039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Aptos"/>
              </a:rPr>
              <a:t>XAMPP or PHP built-in server plus Vite dev server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47472"/>
            <a:ext cx="530352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9764A"/>
                </a:solidFill>
                <a:latin typeface="Aptos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From customer request to manager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The core booking path is rule-driven, visible to managers, and designed so important customer communication is reviewed before use.</a:t>
            </a:r>
          </a:p>
        </p:txBody>
      </p:sp>
      <p:sp>
        <p:nvSpPr>
          <p:cNvPr id="6" name="Oval 5"/>
          <p:cNvSpPr/>
          <p:nvPr/>
        </p:nvSpPr>
        <p:spPr>
          <a:xfrm>
            <a:off x="1179576" y="1673351"/>
            <a:ext cx="475488" cy="475488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9576" y="17739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737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Aptos"/>
              </a:rPr>
              <a:t>Customer submits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99232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ptos"/>
              </a:rPr>
              <a:t>Date, time, guests, contact details, and optional area preference.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3200400"/>
            <a:ext cx="530352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47288" y="1673351"/>
            <a:ext cx="475488" cy="475488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17739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2331720"/>
            <a:ext cx="1737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Aptos"/>
              </a:rPr>
              <a:t>Rules checked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999232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ptos"/>
              </a:rPr>
              <a:t>Guest limits, closed dates, advance notice, and opening hours are validated.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99431" y="3200400"/>
            <a:ext cx="530352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15000" y="1673351"/>
            <a:ext cx="475488" cy="475488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17739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9784" y="2331720"/>
            <a:ext cx="1737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94376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Aptos"/>
              </a:rPr>
              <a:t>Table 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999232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ptos"/>
              </a:rPr>
              <a:t>Reservable tables and existing bookings determine availability.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67144" y="3200400"/>
            <a:ext cx="530352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982712" y="1673351"/>
            <a:ext cx="475488" cy="475488"/>
          </a:xfrm>
          <a:prstGeom prst="ellipse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2712" y="17739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97496" y="2331720"/>
            <a:ext cx="1737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Aptos"/>
              </a:rPr>
              <a:t>Manager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999232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ptos"/>
              </a:rPr>
              <a:t>Staff can edit details, select tables, and confirm or decline.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34856" y="3200400"/>
            <a:ext cx="530352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250424" y="1673351"/>
            <a:ext cx="475488" cy="475488"/>
          </a:xfrm>
          <a:prstGeom prst="ellipse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50424" y="177393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65208" y="2331720"/>
            <a:ext cx="1737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9800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Aptos"/>
              </a:rPr>
              <a:t>Reply logged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999232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Aptos"/>
              </a:rPr>
              <a:t>Customer messages are drafted, reviewed, and saved as email evidence.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4919472"/>
            <a:ext cx="98298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63040" y="5184648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0E5630"/>
                </a:solidFill>
                <a:latin typeface="Aptos"/>
              </a:rPr>
              <a:t>Key design choice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157216"/>
            <a:ext cx="7269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ptos"/>
              </a:rPr>
              <a:t>Public bookings can be validated automatically, while functions and customer replies stay under manager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47472"/>
            <a:ext cx="530352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9764A"/>
                </a:solidFill>
                <a:latin typeface="Aptos"/>
              </a:rPr>
              <a:t>MANAGER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Operational overview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The dashboard is arranged around the daily questions staff need answered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84831"/>
            <a:ext cx="2971800" cy="13441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3134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667085"/>
                </a:solidFill>
                <a:latin typeface="Aptos"/>
              </a:rPr>
              <a:t>Today's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5968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9260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667085"/>
                </a:solidFill>
                <a:latin typeface="Aptos"/>
              </a:rPr>
              <a:t>124 guests across lunch and dinner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084831"/>
            <a:ext cx="73152" cy="1344168"/>
          </a:xfrm>
          <a:prstGeom prst="rect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61688" y="2084831"/>
            <a:ext cx="2971800" cy="13441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23134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667085"/>
                </a:solidFill>
                <a:latin typeface="Aptos"/>
              </a:rPr>
              <a:t>Pending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5968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29260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667085"/>
                </a:solidFill>
                <a:latin typeface="Aptos"/>
              </a:rPr>
              <a:t>2 function requests, 2 bookings without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084831"/>
            <a:ext cx="73152" cy="13441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90688" y="2084831"/>
            <a:ext cx="2971800" cy="13441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91856" y="23134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667085"/>
                </a:solidFill>
                <a:latin typeface="Aptos"/>
              </a:rPr>
              <a:t>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25968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01828"/>
                </a:solidFill>
                <a:latin typeface="Aptos"/>
              </a:rPr>
              <a:t>Guest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926080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 dirty="0">
                <a:solidFill>
                  <a:srgbClr val="667085"/>
                </a:solidFill>
                <a:latin typeface="Aptos"/>
              </a:rPr>
              <a:t>Weekly or monthly bar 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90688" y="2084831"/>
            <a:ext cx="73152" cy="1344168"/>
          </a:xfrm>
          <a:prstGeom prst="rect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2688" y="3822191"/>
            <a:ext cx="457200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3856" y="4059936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Aptos"/>
              </a:rPr>
              <a:t>Today's booking list</a:t>
            </a:r>
          </a:p>
        </p:txBody>
      </p:sp>
      <p:sp>
        <p:nvSpPr>
          <p:cNvPr id="31" name="Oval 30"/>
          <p:cNvSpPr/>
          <p:nvPr/>
        </p:nvSpPr>
        <p:spPr>
          <a:xfrm>
            <a:off x="1170432" y="4453128"/>
            <a:ext cx="73152" cy="73152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4370832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12:00  Smith  8 guests</a:t>
            </a:r>
          </a:p>
        </p:txBody>
      </p:sp>
      <p:sp>
        <p:nvSpPr>
          <p:cNvPr id="33" name="Oval 32"/>
          <p:cNvSpPr/>
          <p:nvPr/>
        </p:nvSpPr>
        <p:spPr>
          <a:xfrm>
            <a:off x="1170432" y="4745736"/>
            <a:ext cx="73152" cy="73152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5880" y="466344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13:30  Nguyen  10 guests</a:t>
            </a:r>
          </a:p>
        </p:txBody>
      </p:sp>
      <p:sp>
        <p:nvSpPr>
          <p:cNvPr id="35" name="Oval 34"/>
          <p:cNvSpPr/>
          <p:nvPr/>
        </p:nvSpPr>
        <p:spPr>
          <a:xfrm>
            <a:off x="1170432" y="5038344"/>
            <a:ext cx="73152" cy="73152"/>
          </a:xfrm>
          <a:prstGeom prst="ellipse">
            <a:avLst/>
          </a:prstGeom>
          <a:solidFill>
            <a:srgbClr val="0E5630"/>
          </a:solidFill>
          <a:ln>
            <a:solidFill>
              <a:srgbClr val="0E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49560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18:00  Patel  30 guests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3822191"/>
            <a:ext cx="457200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7" y="4059936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Aptos"/>
              </a:rPr>
              <a:t>Upcoming functions</a:t>
            </a:r>
          </a:p>
        </p:txBody>
      </p:sp>
      <p:sp>
        <p:nvSpPr>
          <p:cNvPr id="39" name="Oval 38"/>
          <p:cNvSpPr/>
          <p:nvPr/>
        </p:nvSpPr>
        <p:spPr>
          <a:xfrm>
            <a:off x="6364223" y="4453128"/>
            <a:ext cx="73152" cy="73152"/>
          </a:xfrm>
          <a:prstGeom prst="ellipse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9671" y="4370832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Sat 30 May  21st Birthday</a:t>
            </a:r>
          </a:p>
        </p:txBody>
      </p:sp>
      <p:sp>
        <p:nvSpPr>
          <p:cNvPr id="41" name="Oval 40"/>
          <p:cNvSpPr/>
          <p:nvPr/>
        </p:nvSpPr>
        <p:spPr>
          <a:xfrm>
            <a:off x="6364223" y="4745736"/>
            <a:ext cx="73152" cy="73152"/>
          </a:xfrm>
          <a:prstGeom prst="ellipse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9671" y="466344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Fri 5 Jun  Corporate dinner</a:t>
            </a:r>
          </a:p>
        </p:txBody>
      </p:sp>
      <p:sp>
        <p:nvSpPr>
          <p:cNvPr id="43" name="Oval 42"/>
          <p:cNvSpPr/>
          <p:nvPr/>
        </p:nvSpPr>
        <p:spPr>
          <a:xfrm>
            <a:off x="6364223" y="5038344"/>
            <a:ext cx="73152" cy="73152"/>
          </a:xfrm>
          <a:prstGeom prst="ellipse">
            <a:avLst/>
          </a:prstGeom>
          <a:solidFill>
            <a:srgbClr val="2E90FA"/>
          </a:solidFill>
          <a:ln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9671" y="49560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Sun 14 Jun  Engagement lunch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47472"/>
            <a:ext cx="530352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9764A"/>
                </a:solidFill>
                <a:latin typeface="Aptos"/>
              </a:rPr>
              <a:t>AI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AI-assisted reply composer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The AI component helps managers draft customer-facing replies while keeping final control with staff.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212848" cy="1572768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E5630"/>
                </a:solidFill>
                <a:latin typeface="Aptos"/>
              </a:rPr>
              <a:t>Booking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667085"/>
                </a:solidFill>
                <a:latin typeface="Aptos"/>
              </a:rPr>
              <a:t>Reference, date, time, guests, status, area and tables.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90088" y="2834640"/>
            <a:ext cx="548640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38728" y="2057400"/>
            <a:ext cx="2212848" cy="15727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30428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90FA"/>
                </a:solidFill>
                <a:latin typeface="Aptos"/>
              </a:rPr>
              <a:t>Manager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70048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667085"/>
                </a:solidFill>
                <a:latin typeface="Aptos"/>
              </a:rPr>
              <a:t>Short instruction like dietary needs or approval details.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51576" y="2834640"/>
            <a:ext cx="548640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0216" y="2057400"/>
            <a:ext cx="2212848" cy="157276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30428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Draft reply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670048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667085"/>
                </a:solidFill>
                <a:latin typeface="Aptos"/>
              </a:rPr>
              <a:t>Friendly message generated for the customer.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13063" y="2834640"/>
            <a:ext cx="548641" cy="0"/>
          </a:xfrm>
          <a:prstGeom prst="line">
            <a:avLst/>
          </a:prstGeom>
          <a:ln w="25400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61704" y="2057400"/>
            <a:ext cx="2212848" cy="1572768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4584" y="230428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E5630"/>
                </a:solidFill>
                <a:latin typeface="Aptos"/>
              </a:rPr>
              <a:t>Human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670048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667085"/>
                </a:solidFill>
                <a:latin typeface="Aptos"/>
              </a:rPr>
              <a:t>Manager edits, confirms, and logs the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617720"/>
            <a:ext cx="2880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34439" y="4855464"/>
            <a:ext cx="384048" cy="384048"/>
          </a:xfrm>
          <a:prstGeom prst="ellipse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39" y="4928616"/>
            <a:ext cx="3840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E5630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8006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Aptos"/>
              </a:rPr>
              <a:t>No auto-send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5074920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>
                <a:solidFill>
                  <a:srgbClr val="667085"/>
                </a:solidFill>
                <a:latin typeface="Aptos"/>
              </a:rPr>
              <a:t>Replies are drafted only. Managers decide what is sent.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617720"/>
            <a:ext cx="2880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63440" y="4855464"/>
            <a:ext cx="384048" cy="384048"/>
          </a:xfrm>
          <a:prstGeom prst="ellipse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4928616"/>
            <a:ext cx="3840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E5630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8006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Aptos"/>
              </a:rPr>
              <a:t>Local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5074920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>
                <a:solidFill>
                  <a:srgbClr val="667085"/>
                </a:solidFill>
                <a:latin typeface="Aptos"/>
              </a:rPr>
              <a:t>The app can create deterministic drafts without an external API key.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617720"/>
            <a:ext cx="2880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92440" y="4855464"/>
            <a:ext cx="384048" cy="384048"/>
          </a:xfrm>
          <a:prstGeom prst="ellipse">
            <a:avLst/>
          </a:prstGeom>
          <a:solidFill>
            <a:srgbClr val="E8F7EF"/>
          </a:solidFill>
          <a:ln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4928616"/>
            <a:ext cx="3840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E5630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48006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Aptos"/>
              </a:rPr>
              <a:t>Audit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5074920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>
                <a:solidFill>
                  <a:srgbClr val="667085"/>
                </a:solidFill>
                <a:latin typeface="Aptos"/>
              </a:rPr>
              <a:t>Generated replies and simulated emails are stored for demonstration.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713232"/>
            <a:ext cx="7680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AU" sz="2800" b="1" dirty="0">
                <a:solidFill>
                  <a:srgbClr val="101828"/>
                </a:solidFill>
                <a:latin typeface="Aptos"/>
              </a:rPr>
              <a:t>CONCLUSION</a:t>
            </a:r>
            <a:endParaRPr sz="2800" b="1" dirty="0">
              <a:solidFill>
                <a:srgbClr val="10182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56448" y="2670048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9" b="0">
                <a:solidFill>
                  <a:srgbClr val="FFFFFF"/>
                </a:solidFill>
                <a:latin typeface="Aptos"/>
              </a:rPr>
              <a:t>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529584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9" b="0">
                <a:solidFill>
                  <a:srgbClr val="FFFFFF"/>
                </a:solidFill>
                <a:latin typeface="Aptos"/>
              </a:rPr>
              <a:t>/terms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959352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9" b="0">
                <a:solidFill>
                  <a:srgbClr val="FFFFFF"/>
                </a:solidFill>
                <a:latin typeface="Aptos"/>
              </a:rPr>
              <a:t>/signin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389120"/>
            <a:ext cx="24688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9" b="0">
                <a:solidFill>
                  <a:srgbClr val="FFFFFF"/>
                </a:solidFill>
                <a:latin typeface="Aptos"/>
              </a:rPr>
              <a:t>manager@resrva.test / Password123!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322" y="1732514"/>
            <a:ext cx="9966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b="0" dirty="0" err="1">
                <a:solidFill>
                  <a:srgbClr val="667085"/>
                </a:solidFill>
                <a:latin typeface="Aptos"/>
              </a:rPr>
              <a:t>Resrva</a:t>
            </a:r>
            <a:r>
              <a:rPr lang="en-US" b="0" dirty="0">
                <a:solidFill>
                  <a:srgbClr val="667085"/>
                </a:solidFill>
                <a:latin typeface="Aptos"/>
              </a:rPr>
              <a:t> demonstrates a complete local full-stack system: public forms, protected manager tools, database-backed rules, and responsible AI assistance.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98A2B3"/>
                </a:solidFill>
                <a:latin typeface="Aptos"/>
              </a:rPr>
              <a:t>Resrva assignment deck  |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637</Words>
  <Application>Microsoft Office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Werak Dongol</cp:lastModifiedBy>
  <cp:revision>2</cp:revision>
  <dcterms:created xsi:type="dcterms:W3CDTF">2013-01-27T09:14:16Z</dcterms:created>
  <dcterms:modified xsi:type="dcterms:W3CDTF">2026-05-28T01:47:38Z</dcterms:modified>
  <cp:category/>
</cp:coreProperties>
</file>